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70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Urbanist Medium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  <p:embeddedFont>
      <p:font typeface="Roboto Mono"/>
      <p:regular r:id="rId35"/>
      <p:bold r:id="rId36"/>
      <p:italic r:id="rId37"/>
      <p:boldItalic r:id="rId38"/>
    </p:embeddedFont>
    <p:embeddedFont>
      <p:font typeface="Poppins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gQRWB3MGu7wL5IASa/X+VFidIv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ACC530-9145-4FDE-B83E-C3C2869CB408}">
  <a:tblStyle styleId="{80ACC530-9145-4FDE-B83E-C3C2869CB4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Bold-boldItalic.fntdata"/><Relationship Id="rId41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SemiBold-regular.fntdata"/><Relationship Id="rId30" Type="http://schemas.openxmlformats.org/officeDocument/2006/relationships/font" Target="fonts/Urbanist-boldItalic.fntdata"/><Relationship Id="rId33" Type="http://schemas.openxmlformats.org/officeDocument/2006/relationships/font" Target="fonts/PoppinsSemiBold-italic.fntdata"/><Relationship Id="rId32" Type="http://schemas.openxmlformats.org/officeDocument/2006/relationships/font" Target="fonts/PoppinsSemiBold-bold.fntdata"/><Relationship Id="rId35" Type="http://schemas.openxmlformats.org/officeDocument/2006/relationships/font" Target="fonts/RobotoMono-regular.fntdata"/><Relationship Id="rId34" Type="http://schemas.openxmlformats.org/officeDocument/2006/relationships/font" Target="fonts/PoppinsSemiBold-boldItalic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9" Type="http://schemas.openxmlformats.org/officeDocument/2006/relationships/font" Target="fonts/PoppinsExtraBold-bold.fntdata"/><Relationship Id="rId38" Type="http://schemas.openxmlformats.org/officeDocument/2006/relationships/font" Target="fonts/RobotoMono-boldItalic.fntdata"/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29" Type="http://schemas.openxmlformats.org/officeDocument/2006/relationships/font" Target="fonts/Urbanist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7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Poppins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10" name="Google Shape;10;p9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9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9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0" name="Google Shape;20;p10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2" name="Google Shape;22;p10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" name="Google Shape;24;p10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6" name="Google Shape;26;p10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" name="Google Shape;27;p10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" name="Google Shape;28;p10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" name="Google Shape;29;p10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10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10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10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7" name="Google Shape;37;p11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8" name="Google Shape;38;p11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" name="Google Shape;42;p1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" name="Google Shape;43;p1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" name="Google Shape;47;p12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" name="Google Shape;48;p12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" name="Google Shape;49;p12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" name="Google Shape;50;p12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3" name="Google Shape;53;p12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7" name="Google Shape;57;p1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1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1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" name="Google Shape;61;p1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65" name="Google Shape;65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1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7" name="Google Shape;77;p1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87" name="Google Shape;87;p1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88" name="Google Shape;88;p1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89" name="Google Shape;89;p1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0" name="Google Shape;90;p1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7" name="Google Shape;97;p1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8" name="Google Shape;98;p1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17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7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105" name="Google Shape;105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8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" name="Google Shape;110;p18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8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18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5" name="Google Shape;115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9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5" name="Google Shape;125;p19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26" name="Google Shape;126;p19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0" name="Google Shape;130;p2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31" name="Google Shape;131;p20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32" name="Google Shape;132;p20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4" name="Google Shape;134;p20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35" name="Google Shape;135;p2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20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9" name="Google Shape;139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" name="Google Shape;142;p21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4" name="Google Shape;144;p21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46" name="Google Shape;146;p2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7" name="Google Shape;147;p2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2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9" name="Google Shape;149;p2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3" name="Google Shape;153;p22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22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22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58" name="Google Shape;158;p22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9" name="Google Shape;159;p22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0" name="Google Shape;160;p22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1" name="Google Shape;161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2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23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3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23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169" name="Google Shape;169;p23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0" name="Google Shape;170;p23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23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p24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8" name="Google Shape;178;p2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9" name="Google Shape;179;p24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1" name="Google Shape;181;p24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24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4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7" name="Google Shape;187;p2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8" name="Google Shape;188;p2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89" name="Google Shape;189;p25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90" name="Google Shape;190;p25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1" name="Google Shape;191;p25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92" name="Google Shape;192;p25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93" name="Google Shape;193;p25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4" name="Google Shape;194;p2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96" name="Google Shape;196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0" name="Google Shape;200;p2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6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26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3" name="Google Shape;203;p26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205" name="Google Shape;205;p26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6" name="Google Shape;206;p26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2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3" name="Google Shape;213;p27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4" name="Google Shape;214;p27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9pPr>
          </a:lstStyle>
          <a:p/>
        </p:txBody>
      </p:sp>
      <p:sp>
        <p:nvSpPr>
          <p:cNvPr id="217" name="Google Shape;217;p2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8" name="Google Shape;218;p27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8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28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4" name="Google Shape;224;p28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5" name="Google Shape;225;p28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8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8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231" name="Google Shape;231;p28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2" name="Google Shape;232;p28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3" name="Google Shape;233;p28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7" name="Google Shape;237;p29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8" name="Google Shape;238;p29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9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0" name="Google Shape;240;p29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1" name="Google Shape;241;p29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2" name="Google Shape;242;p29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3" name="Google Shape;243;p29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4" name="Google Shape;244;p29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9pPr>
          </a:lstStyle>
          <a:p/>
        </p:txBody>
      </p:sp>
      <p:sp>
        <p:nvSpPr>
          <p:cNvPr id="245" name="Google Shape;245;p2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30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30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30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30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30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30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30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30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30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30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30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30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30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30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31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31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31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31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31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31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31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31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31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31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31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31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31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31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31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31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31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31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31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32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32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32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32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32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32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32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32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32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32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32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32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32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32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32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32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32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32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32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32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32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32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32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32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32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32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32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3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32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32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33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33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33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33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33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33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33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33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33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33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33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33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33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33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3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33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33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33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33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3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33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33"/>
          <p:cNvPicPr preferRelativeResize="0"/>
          <p:nvPr/>
        </p:nvPicPr>
        <p:blipFill rotWithShape="1">
          <a:blip r:embed="rId2">
            <a:alphaModFix/>
          </a:blip>
          <a:srcRect b="39660" l="32509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33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33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33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33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33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33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33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34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34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34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34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34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34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34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34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34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34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34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34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34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34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34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34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34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34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34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34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34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34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34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34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34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34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34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34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3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34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4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34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3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3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3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3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3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36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36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36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36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36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3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36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36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36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3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7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7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7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7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7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7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7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7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7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7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8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8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8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8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8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8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8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8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8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8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8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8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8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8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8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9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9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9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9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9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4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4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4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9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96" name="Google Shape;496;p4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5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5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5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5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5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5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5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5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5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5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5" name="Google Shape;575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6" name="Google Shape;57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9" name="Google Shape;57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2" name="Google Shape;582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3" name="Google Shape;58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6" name="Google Shape;586;p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8" name="Google Shape;58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1" name="Google Shape;591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4" name="Google Shape;594;p6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8" name="Google Shape;59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2" name="Google Shape;602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3" name="Google Shape;603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4" name="Google Shape;604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07" name="Google Shape;60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0" name="Google Shape;610;p7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1" name="Google Shape;611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b="0" i="0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b="0" i="0" sz="4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1" name="Google Shape;571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"/>
          <p:cNvSpPr txBox="1"/>
          <p:nvPr>
            <p:ph type="title"/>
          </p:nvPr>
        </p:nvSpPr>
        <p:spPr>
          <a:xfrm>
            <a:off x="2930375" y="217425"/>
            <a:ext cx="55443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4400"/>
              <a:t>Capstone Project  Presentation.</a:t>
            </a:r>
            <a:endParaRPr sz="4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4400"/>
              <a:t>SDG 2: Zero Hunger</a:t>
            </a:r>
            <a:endParaRPr sz="4400"/>
          </a:p>
        </p:txBody>
      </p:sp>
      <p:sp>
        <p:nvSpPr>
          <p:cNvPr id="619" name="Google Shape;619;p1"/>
          <p:cNvSpPr txBox="1"/>
          <p:nvPr>
            <p:ph idx="4294967295" type="subTitle"/>
          </p:nvPr>
        </p:nvSpPr>
        <p:spPr>
          <a:xfrm>
            <a:off x="3493950" y="3149550"/>
            <a:ext cx="21561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Meet the Team : </a:t>
            </a:r>
            <a:endParaRPr b="0" i="0" sz="11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Irene Mwelu</a:t>
            </a:r>
            <a:b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b="0" i="0" sz="11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Collins Kinzi</a:t>
            </a:r>
            <a:b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b="0" i="0" sz="11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Foster Mesreh</a:t>
            </a:r>
            <a:b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b="0" i="0" sz="11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b="0" i="0" lang="en" sz="1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Tonde Salif</a:t>
            </a:r>
            <a:endParaRPr b="0" i="0" sz="1100" u="none" cap="none" strike="noStrike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"/>
          <p:cNvSpPr txBox="1"/>
          <p:nvPr>
            <p:ph idx="1" type="subTitle"/>
          </p:nvPr>
        </p:nvSpPr>
        <p:spPr>
          <a:xfrm>
            <a:off x="1510000" y="358700"/>
            <a:ext cx="71922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en" sz="1900">
                <a:latin typeface="Poppins ExtraBold"/>
                <a:ea typeface="Poppins ExtraBold"/>
                <a:cs typeface="Poppins ExtraBold"/>
                <a:sym typeface="Poppins ExtraBold"/>
              </a:rPr>
              <a:t>How SME Income &amp; Targeted Support Drive Agricultural Productivity.</a:t>
            </a:r>
            <a:endParaRPr b="0" sz="1900"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/>
              <a:t>An Analysis of African SME Agriculture and Government Policy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70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25" name="Google Shape;625;p2"/>
          <p:cNvSpPr txBox="1"/>
          <p:nvPr>
            <p:ph idx="3" type="subTitle"/>
          </p:nvPr>
        </p:nvSpPr>
        <p:spPr>
          <a:xfrm>
            <a:off x="1510000" y="2447875"/>
            <a:ext cx="6742200" cy="18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4467"/>
              <a:buNone/>
            </a:pPr>
            <a:r>
              <a:rPr i="1" lang="en" sz="1700">
                <a:latin typeface="Roboto Mono"/>
                <a:ea typeface="Roboto Mono"/>
                <a:cs typeface="Roboto Mono"/>
                <a:sym typeface="Roboto Mono"/>
              </a:rPr>
              <a:t>Research Question: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Can we significantly reduce the gap to Zero Hunger by leveraging agricultural productivity through empowered SMEs,supported by increased income and government initiatives?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"/>
          <p:cNvSpPr txBox="1"/>
          <p:nvPr>
            <p:ph idx="4" type="body"/>
          </p:nvPr>
        </p:nvSpPr>
        <p:spPr>
          <a:xfrm>
            <a:off x="3817800" y="1041450"/>
            <a:ext cx="46335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Findings: There is a strong positive correlation between SME income and agricultural productivity (a key driver of investment capability).</a:t>
            </a:r>
            <a:endParaRPr sz="1200"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1" name="Google Shape;631;p3"/>
          <p:cNvSpPr txBox="1"/>
          <p:nvPr>
            <p:ph type="title"/>
          </p:nvPr>
        </p:nvSpPr>
        <p:spPr>
          <a:xfrm>
            <a:off x="133975" y="677850"/>
            <a:ext cx="3856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The Vicious Cycle 🔄</a:t>
            </a:r>
            <a:endParaRPr sz="1500"/>
          </a:p>
        </p:txBody>
      </p:sp>
      <p:grpSp>
        <p:nvGrpSpPr>
          <p:cNvPr id="632" name="Google Shape;632;p3"/>
          <p:cNvGrpSpPr/>
          <p:nvPr/>
        </p:nvGrpSpPr>
        <p:grpSpPr>
          <a:xfrm>
            <a:off x="636697" y="1039174"/>
            <a:ext cx="2571878" cy="1532527"/>
            <a:chOff x="3507552" y="1916524"/>
            <a:chExt cx="2787944" cy="1661276"/>
          </a:xfrm>
        </p:grpSpPr>
        <p:sp>
          <p:nvSpPr>
            <p:cNvPr id="633" name="Google Shape;633;p3"/>
            <p:cNvSpPr/>
            <p:nvPr/>
          </p:nvSpPr>
          <p:spPr>
            <a:xfrm>
              <a:off x="4413818" y="1916524"/>
              <a:ext cx="965700" cy="280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2225" lIns="62225" spcFirstLastPara="1" rIns="62225" wrap="square" tIns="62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"/>
                <a:buFont typeface="Arial"/>
                <a:buNone/>
              </a:pPr>
              <a:r>
                <a:rPr b="0" i="0" lang="en" sz="68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Low Income</a:t>
              </a:r>
              <a:endParaRPr b="0" i="0" sz="68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507552" y="2606912"/>
              <a:ext cx="1125000" cy="2805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62225" lIns="62225" spcFirstLastPara="1" rIns="62225" wrap="square" tIns="62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"/>
                <a:buFont typeface="Arial"/>
                <a:buNone/>
              </a:pPr>
              <a:r>
                <a:rPr b="0" i="0" lang="en" sz="68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Low Investment</a:t>
              </a:r>
              <a:endParaRPr b="0" i="0" sz="68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5170496" y="2606912"/>
              <a:ext cx="1125000" cy="2805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62225" lIns="62225" spcFirstLastPara="1" rIns="62225" wrap="square" tIns="62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"/>
                <a:buFont typeface="Arial"/>
                <a:buNone/>
              </a:pPr>
              <a:r>
                <a:rPr b="0" i="0" lang="en" sz="680" u="none" cap="none" strike="noStrike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Low Productivity</a:t>
              </a:r>
              <a:endParaRPr b="0" i="0" sz="68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636" name="Google Shape;636;p3"/>
            <p:cNvCxnSpPr>
              <a:stCxn id="634" idx="0"/>
              <a:endCxn id="633" idx="1"/>
            </p:cNvCxnSpPr>
            <p:nvPr/>
          </p:nvCxnSpPr>
          <p:spPr>
            <a:xfrm rot="-5400000">
              <a:off x="3966852" y="2159912"/>
              <a:ext cx="550200" cy="3438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37" name="Google Shape;637;p3"/>
            <p:cNvCxnSpPr>
              <a:stCxn id="633" idx="3"/>
              <a:endCxn id="635" idx="0"/>
            </p:cNvCxnSpPr>
            <p:nvPr/>
          </p:nvCxnSpPr>
          <p:spPr>
            <a:xfrm>
              <a:off x="5379518" y="2056774"/>
              <a:ext cx="353400" cy="5502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38" name="Google Shape;638;p3"/>
            <p:cNvSpPr/>
            <p:nvPr/>
          </p:nvSpPr>
          <p:spPr>
            <a:xfrm>
              <a:off x="4413818" y="3297300"/>
              <a:ext cx="965700" cy="2805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2225" lIns="62225" spcFirstLastPara="1" rIns="62225" wrap="square" tIns="62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"/>
                <a:buFont typeface="Arial"/>
                <a:buNone/>
              </a:pPr>
              <a:r>
                <a:rPr b="0" i="0" lang="en" sz="680" u="none" cap="none" strike="noStrike">
                  <a:solidFill>
                    <a:schemeClr val="lt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Low Income</a:t>
              </a:r>
              <a:endParaRPr b="0" i="0" sz="68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cxnSp>
          <p:nvCxnSpPr>
            <p:cNvPr id="639" name="Google Shape;639;p3"/>
            <p:cNvCxnSpPr>
              <a:stCxn id="635" idx="2"/>
              <a:endCxn id="638" idx="3"/>
            </p:cNvCxnSpPr>
            <p:nvPr/>
          </p:nvCxnSpPr>
          <p:spPr>
            <a:xfrm rot="5400000">
              <a:off x="5281196" y="2985812"/>
              <a:ext cx="550200" cy="3534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0" name="Google Shape;640;p3"/>
            <p:cNvCxnSpPr>
              <a:stCxn id="638" idx="1"/>
              <a:endCxn id="634" idx="2"/>
            </p:cNvCxnSpPr>
            <p:nvPr/>
          </p:nvCxnSpPr>
          <p:spPr>
            <a:xfrm rot="10800000">
              <a:off x="4070018" y="2887350"/>
              <a:ext cx="343800" cy="550200"/>
            </a:xfrm>
            <a:prstGeom prst="curved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41" name="Google Shape;641;p3"/>
          <p:cNvSpPr txBox="1"/>
          <p:nvPr/>
        </p:nvSpPr>
        <p:spPr>
          <a:xfrm>
            <a:off x="307425" y="140375"/>
            <a:ext cx="844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Core Problem: Income, Productivity, and Equity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"/>
          <p:cNvSpPr txBox="1"/>
          <p:nvPr>
            <p:ph type="title"/>
          </p:nvPr>
        </p:nvSpPr>
        <p:spPr>
          <a:xfrm>
            <a:off x="133975" y="2801550"/>
            <a:ext cx="3590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500"/>
              <a:t>2. 	The Gender Income Gap ♀️</a:t>
            </a:r>
            <a:endParaRPr sz="1500"/>
          </a:p>
        </p:txBody>
      </p:sp>
      <p:sp>
        <p:nvSpPr>
          <p:cNvPr id="643" name="Google Shape;643;p3"/>
          <p:cNvSpPr txBox="1"/>
          <p:nvPr/>
        </p:nvSpPr>
        <p:spPr>
          <a:xfrm>
            <a:off x="3787950" y="2845200"/>
            <a:ext cx="46932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Finding: A consistent gender-based income gap was observed across all countries. Women often earn substantially less than men despite similar or equal productivity levels (e.g., Small SME females in Benin earn ~42% of their male counterparts).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3"/>
          <p:cNvSpPr txBox="1"/>
          <p:nvPr/>
        </p:nvSpPr>
        <p:spPr>
          <a:xfrm>
            <a:off x="224525" y="4114650"/>
            <a:ext cx="814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Policy Note:</a:t>
            </a: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Policies must be carefully targeted. Productivity training showed a large positive income impact for women in Large SMEs, but a negative impact for women in Small SMEs.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"/>
          <p:cNvSpPr txBox="1"/>
          <p:nvPr>
            <p:ph idx="4" type="body"/>
          </p:nvPr>
        </p:nvSpPr>
        <p:spPr>
          <a:xfrm>
            <a:off x="729725" y="1500275"/>
            <a:ext cx="7263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 Finding: All sampled countries show AOI values clustered between 0.05 and 0.3, indicating a strong bias against the agricultural sector in government resource allocation.</a:t>
            </a:r>
            <a:endParaRPr sz="1200"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0" name="Google Shape;650;p4"/>
          <p:cNvSpPr txBox="1"/>
          <p:nvPr>
            <p:ph type="title"/>
          </p:nvPr>
        </p:nvSpPr>
        <p:spPr>
          <a:xfrm>
            <a:off x="308725" y="709475"/>
            <a:ext cx="74307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The Government Bias Challenge.</a:t>
            </a:r>
            <a:endParaRPr sz="1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Metric: Agricultural Orientation Index (AOI) – Ratio of government spending on agriculture to agricultural GDP (Ideal = 1.0).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4"/>
          <p:cNvSpPr txBox="1"/>
          <p:nvPr/>
        </p:nvSpPr>
        <p:spPr>
          <a:xfrm>
            <a:off x="256100" y="140375"/>
            <a:ext cx="84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Government Support: Quantity vs. Quality (AOI Analysis) 📉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"/>
          <p:cNvSpPr txBox="1"/>
          <p:nvPr>
            <p:ph type="title"/>
          </p:nvPr>
        </p:nvSpPr>
        <p:spPr>
          <a:xfrm>
            <a:off x="308725" y="2183675"/>
            <a:ext cx="754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/>
              <a:t>2. 	The Inefficient Investment Problem</a:t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1200"/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Initial analysis showed the AOI’s direct effect on productivity was statistically insignificant.</a:t>
            </a:r>
            <a:endParaRPr sz="1200"/>
          </a:p>
        </p:txBody>
      </p:sp>
      <p:sp>
        <p:nvSpPr>
          <p:cNvPr id="653" name="Google Shape;653;p4"/>
          <p:cNvSpPr txBox="1"/>
          <p:nvPr/>
        </p:nvSpPr>
        <p:spPr>
          <a:xfrm>
            <a:off x="772775" y="3045575"/>
            <a:ext cx="7177800" cy="10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Interpretation: Current government support is often inefficient, poorly targeted, or delayed in its impact.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Opportunity: Higher productivity producers (above 20 units) were found only in countries where the AOI was above 0.2.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4" name="Google Shape;654;p4"/>
          <p:cNvSpPr txBox="1"/>
          <p:nvPr/>
        </p:nvSpPr>
        <p:spPr>
          <a:xfrm>
            <a:off x="308725" y="4220475"/>
            <a:ext cx="74307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Conclusion: The key is quality of support and strategic targeting, not just the quantity of spending.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"/>
          <p:cNvSpPr txBox="1"/>
          <p:nvPr>
            <p:ph type="title"/>
          </p:nvPr>
        </p:nvSpPr>
        <p:spPr>
          <a:xfrm>
            <a:off x="435025" y="192949"/>
            <a:ext cx="703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2200"/>
              <a:t>Case Studies: Policy Success vs. Policy Gaps 🔎</a:t>
            </a:r>
            <a:endParaRPr sz="2200"/>
          </a:p>
        </p:txBody>
      </p:sp>
      <p:grpSp>
        <p:nvGrpSpPr>
          <p:cNvPr id="660" name="Google Shape;660;p5"/>
          <p:cNvGrpSpPr/>
          <p:nvPr/>
        </p:nvGrpSpPr>
        <p:grpSpPr>
          <a:xfrm>
            <a:off x="608892" y="658450"/>
            <a:ext cx="7802020" cy="3197052"/>
            <a:chOff x="652818" y="613850"/>
            <a:chExt cx="6697013" cy="4243499"/>
          </a:xfrm>
        </p:grpSpPr>
        <p:grpSp>
          <p:nvGrpSpPr>
            <p:cNvPr id="661" name="Google Shape;661;p5"/>
            <p:cNvGrpSpPr/>
            <p:nvPr/>
          </p:nvGrpSpPr>
          <p:grpSpPr>
            <a:xfrm>
              <a:off x="652818" y="613851"/>
              <a:ext cx="6697013" cy="2206825"/>
              <a:chOff x="1149786" y="1966960"/>
              <a:chExt cx="1944601" cy="1569688"/>
            </a:xfrm>
          </p:grpSpPr>
          <p:sp>
            <p:nvSpPr>
              <p:cNvPr id="662" name="Google Shape;662;p5"/>
              <p:cNvSpPr/>
              <p:nvPr/>
            </p:nvSpPr>
            <p:spPr>
              <a:xfrm>
                <a:off x="1149787" y="1966960"/>
                <a:ext cx="1944600" cy="1569600"/>
              </a:xfrm>
              <a:prstGeom prst="round2DiagRect">
                <a:avLst>
                  <a:gd fmla="val 0" name="adj1"/>
                  <a:gd fmla="val 17764" name="adj2"/>
                </a:avLst>
              </a:prstGeom>
              <a:solidFill>
                <a:srgbClr val="307AF3"/>
              </a:solidFill>
              <a:ln>
                <a:noFill/>
              </a:ln>
            </p:spPr>
            <p:txBody>
              <a:bodyPr anchorCtr="0" anchor="ctr" bIns="77200" lIns="77200" spcFirstLastPara="1" rIns="77200" wrap="square" tIns="7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2"/>
                  <a:buFont typeface="Arial"/>
                  <a:buNone/>
                </a:pPr>
                <a:r>
                  <a:t/>
                </a:r>
                <a:endParaRPr b="0" i="0" sz="1182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63" name="Google Shape;663;p5"/>
              <p:cNvSpPr txBox="1"/>
              <p:nvPr/>
            </p:nvSpPr>
            <p:spPr>
              <a:xfrm>
                <a:off x="1149786" y="1967056"/>
                <a:ext cx="384900" cy="133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7200" lIns="77200" spcFirstLastPara="1" rIns="77200" wrap="square" tIns="7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</a:rPr>
                  <a:t>Country</a:t>
                </a:r>
                <a:endParaRPr b="1" i="0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t/>
                </a:r>
                <a:endParaRPr b="1" i="0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</a:rPr>
                  <a:t>Status</a:t>
                </a:r>
                <a:endParaRPr b="1" i="0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t/>
                </a:r>
                <a:endParaRPr b="1" i="0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t/>
                </a:r>
                <a:endParaRPr b="1" i="0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chemeClr val="accent3"/>
                    </a:solidFill>
                    <a:latin typeface="Roboto"/>
                    <a:ea typeface="Roboto"/>
                    <a:cs typeface="Roboto"/>
                    <a:sym typeface="Roboto"/>
                  </a:rPr>
                  <a:t>Key to Success</a:t>
                </a:r>
                <a:endParaRPr b="1" i="0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664" name="Google Shape;664;p5"/>
              <p:cNvSpPr txBox="1"/>
              <p:nvPr/>
            </p:nvSpPr>
            <p:spPr>
              <a:xfrm>
                <a:off x="1534780" y="1967048"/>
                <a:ext cx="753000" cy="156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7200" lIns="77200" spcFirstLastPara="1" rIns="77200" wrap="square" tIns="7720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Togo		</a:t>
                </a:r>
                <a:endParaRPr b="1" i="0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1351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Top Performer		</a:t>
                </a:r>
                <a:endParaRPr b="1" i="0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1351"/>
                  </a:spcBef>
                  <a:spcAft>
                    <a:spcPts val="1351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Targeted Incentives:</a:t>
                </a:r>
                <a:r>
                  <a:rPr b="0" i="0" lang="en" sz="928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 Success linked to providing </a:t>
                </a:r>
                <a:r>
                  <a:rPr b="1" i="0" lang="en" sz="928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subsidized high-yield seeds and fertilizers</a:t>
                </a:r>
                <a:r>
                  <a:rPr b="0" i="0" lang="en" sz="928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 to smallholder farmers, directly linking government support to farmer output and income.</a:t>
                </a:r>
                <a:endParaRPr b="0" i="0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665" name="Google Shape;665;p5"/>
            <p:cNvGrpSpPr/>
            <p:nvPr/>
          </p:nvGrpSpPr>
          <p:grpSpPr>
            <a:xfrm>
              <a:off x="715829" y="2820479"/>
              <a:ext cx="6633852" cy="2036870"/>
              <a:chOff x="5015938" y="2013875"/>
              <a:chExt cx="3001200" cy="1569600"/>
            </a:xfrm>
          </p:grpSpPr>
          <p:sp>
            <p:nvSpPr>
              <p:cNvPr id="666" name="Google Shape;666;p5"/>
              <p:cNvSpPr/>
              <p:nvPr/>
            </p:nvSpPr>
            <p:spPr>
              <a:xfrm>
                <a:off x="5015938" y="2013875"/>
                <a:ext cx="3001200" cy="1569600"/>
              </a:xfrm>
              <a:prstGeom prst="round2DiagRect">
                <a:avLst>
                  <a:gd fmla="val 0" name="adj1"/>
                  <a:gd fmla="val 17764" name="adj2"/>
                </a:avLst>
              </a:prstGeom>
              <a:solidFill>
                <a:srgbClr val="0942A1"/>
              </a:solidFill>
              <a:ln>
                <a:noFill/>
              </a:ln>
            </p:spPr>
            <p:txBody>
              <a:bodyPr anchorCtr="0" anchor="ctr" bIns="77200" lIns="77200" spcFirstLastPara="1" rIns="77200" wrap="square" tIns="77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2"/>
                  <a:buFont typeface="Arial"/>
                  <a:buNone/>
                </a:pPr>
                <a:r>
                  <a:t/>
                </a:r>
                <a:endParaRPr b="0" i="0" sz="11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2"/>
                  <a:buFont typeface="Arial"/>
                  <a:buNone/>
                </a:pPr>
                <a:r>
                  <a:t/>
                </a:r>
                <a:endParaRPr b="0" i="0" sz="11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2"/>
                  <a:buFont typeface="Arial"/>
                  <a:buNone/>
                </a:pPr>
                <a:r>
                  <a:t/>
                </a:r>
                <a:endParaRPr b="0" i="0" sz="11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82"/>
                  <a:buFont typeface="Arial"/>
                  <a:buNone/>
                </a:pPr>
                <a:r>
                  <a:t/>
                </a:r>
                <a:endParaRPr b="0" i="0" sz="1182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5"/>
              <p:cNvSpPr txBox="1"/>
              <p:nvPr/>
            </p:nvSpPr>
            <p:spPr>
              <a:xfrm>
                <a:off x="5615691" y="2036990"/>
                <a:ext cx="1187400" cy="15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7200" lIns="77200" spcFirstLastPara="1" rIns="77200" wrap="square" tIns="7720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Senegal	</a:t>
                </a:r>
                <a:endParaRPr b="1" i="0" sz="92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1351"/>
                  </a:spcBef>
                  <a:spcAft>
                    <a:spcPts val="0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Bottom Performer	</a:t>
                </a:r>
                <a:endParaRPr b="1" i="0" sz="92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1351"/>
                  </a:spcBef>
                  <a:spcAft>
                    <a:spcPts val="1351"/>
                  </a:spcAft>
                  <a:buClr>
                    <a:srgbClr val="000000"/>
                  </a:buClr>
                  <a:buSzPts val="928"/>
                  <a:buFont typeface="Arial"/>
                  <a:buNone/>
                </a:pPr>
                <a:r>
                  <a:rPr b="1" i="0" lang="en" sz="928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Processing Gap:</a:t>
                </a:r>
                <a:r>
                  <a:rPr b="0" i="0" lang="en" sz="928" u="none" cap="none" strike="noStrik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 Only 5% of produce is processed, leading to high post-harvest losses and missed income opportunities.</a:t>
                </a:r>
                <a:endParaRPr b="0" i="0" sz="928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668" name="Google Shape;668;p5"/>
            <p:cNvSpPr txBox="1"/>
            <p:nvPr/>
          </p:nvSpPr>
          <p:spPr>
            <a:xfrm>
              <a:off x="4844950" y="613850"/>
              <a:ext cx="2431200" cy="22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7200" lIns="77200" spcFirstLastPara="1" rIns="77200" wrap="square" tIns="772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Benin</a:t>
              </a:r>
              <a:endParaRPr b="1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351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Top Performer		</a:t>
              </a:r>
              <a:endParaRPr b="1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351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Private Sector Focus: </a:t>
              </a:r>
              <a:r>
                <a:rPr b="0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Modernized agriculture via private sector-led strategy, focusing on policies that translate support into clear income generation.</a:t>
              </a:r>
              <a:endParaRPr b="0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351"/>
                </a:spcBef>
                <a:spcAft>
                  <a:spcPts val="1351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t/>
              </a:r>
              <a:endParaRPr b="0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9" name="Google Shape;669;p5"/>
            <p:cNvSpPr txBox="1"/>
            <p:nvPr/>
          </p:nvSpPr>
          <p:spPr>
            <a:xfrm>
              <a:off x="715825" y="2922500"/>
              <a:ext cx="1255800" cy="17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7200" lIns="77200" spcFirstLastPara="1" rIns="77200" wrap="square" tIns="77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Country</a:t>
              </a:r>
              <a:endParaRPr b="1" i="0" sz="928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t/>
              </a:r>
              <a:endParaRPr b="1" i="0" sz="928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Status</a:t>
              </a:r>
              <a:endParaRPr b="1" i="0" sz="928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t/>
              </a:r>
              <a:endParaRPr b="1" i="0" sz="928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t/>
              </a:r>
              <a:endParaRPr b="1" i="0" sz="928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Constraint</a:t>
              </a:r>
              <a:endParaRPr b="0" i="0" sz="928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p5"/>
            <p:cNvSpPr txBox="1"/>
            <p:nvPr/>
          </p:nvSpPr>
          <p:spPr>
            <a:xfrm>
              <a:off x="4686175" y="2820325"/>
              <a:ext cx="2624700" cy="20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7200" lIns="77200" spcFirstLastPara="1" rIns="77200" wrap="square" tIns="772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Burkina Faso	</a:t>
              </a:r>
              <a:endParaRPr b="1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351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Bottom Performer	</a:t>
              </a:r>
              <a:endParaRPr b="1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351"/>
                </a:spcBef>
                <a:spcAft>
                  <a:spcPts val="0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rPr b="1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Financing Gap: </a:t>
              </a:r>
              <a:r>
                <a:rPr b="0" i="0" lang="en" sz="928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Only 15% of farmers benefit from bank credit, crippling the capacity for SME investment and technology adoption.</a:t>
              </a:r>
              <a:endParaRPr b="0" i="0" sz="928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351"/>
                </a:spcBef>
                <a:spcAft>
                  <a:spcPts val="1351"/>
                </a:spcAft>
                <a:buClr>
                  <a:srgbClr val="000000"/>
                </a:buClr>
                <a:buSzPts val="928"/>
                <a:buFont typeface="Arial"/>
                <a:buNone/>
              </a:pPr>
              <a:r>
                <a:t/>
              </a:r>
              <a:endParaRPr b="1" i="0" sz="928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1" name="Google Shape;671;p5"/>
          <p:cNvSpPr txBox="1"/>
          <p:nvPr/>
        </p:nvSpPr>
        <p:spPr>
          <a:xfrm>
            <a:off x="713925" y="4025750"/>
            <a:ext cx="7696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Insight:</a:t>
            </a:r>
            <a:r>
              <a:rPr b="0" i="0" lang="e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Top performers implement strategic support that directly addresses an investment constraint for farmers, whereas bottom performers suffer from foundational gaps (financing, processing) that render generalized support ineffective.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"/>
          <p:cNvSpPr txBox="1"/>
          <p:nvPr>
            <p:ph idx="1" type="body"/>
          </p:nvPr>
        </p:nvSpPr>
        <p:spPr>
          <a:xfrm>
            <a:off x="4850100" y="603450"/>
            <a:ext cx="40092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2.	</a:t>
            </a:r>
            <a:r>
              <a:rPr b="1" lang="en" sz="1200"/>
              <a:t>Recommendations for Policymakers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Integrate Policy: Adopt a combined-policy strategy to address multiple constraints (income, investment, infrastructure) simultaneously.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Target Interventions: Move beyond blanket AOI spending to create specific programs (e.g., subsidized inputs, credit access) tailored to key value chains.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Address Equity: Implement policies designed to close the gender income gap to fully unlock the agricultural workforce potential.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200"/>
              <a:t>Prioritize Implementation Quality: Focus on ensuring the support reaches the intended SMEs and translates directly into higher income and output.</a:t>
            </a:r>
            <a:endParaRPr sz="1200"/>
          </a:p>
        </p:txBody>
      </p:sp>
      <p:sp>
        <p:nvSpPr>
          <p:cNvPr id="677" name="Google Shape;677;p6"/>
          <p:cNvSpPr txBox="1"/>
          <p:nvPr>
            <p:ph type="title"/>
          </p:nvPr>
        </p:nvSpPr>
        <p:spPr>
          <a:xfrm>
            <a:off x="284709" y="237072"/>
            <a:ext cx="72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The Combined Solution &amp; Recommendations 💡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8" name="Google Shape;678;p6"/>
          <p:cNvSpPr txBox="1"/>
          <p:nvPr>
            <p:ph idx="5" type="subTitle"/>
          </p:nvPr>
        </p:nvSpPr>
        <p:spPr>
          <a:xfrm>
            <a:off x="284700" y="729725"/>
            <a:ext cx="4341600" cy="31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"/>
              <a:t>The Synergy Effect: Policy Simulation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Individual Policies: A 20% income increase and a 25% AOI increase yield a productivity boost.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Combined Policy: Implementing both simultaneously resulted in a greater productivity boost (0.249 units) than the sum of the individual policies. Shown below: </a:t>
            </a:r>
            <a:endParaRPr sz="1700"/>
          </a:p>
        </p:txBody>
      </p:sp>
      <p:graphicFrame>
        <p:nvGraphicFramePr>
          <p:cNvPr id="679" name="Google Shape;679;p6"/>
          <p:cNvGraphicFramePr/>
          <p:nvPr/>
        </p:nvGraphicFramePr>
        <p:xfrm>
          <a:off x="816100" y="286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{80ACC530-9145-4FDE-B83E-C3C2869CB408}</a:tableStyleId>
              </a:tblPr>
              <a:tblGrid>
                <a:gridCol w="1094925"/>
                <a:gridCol w="2318750"/>
              </a:tblGrid>
              <a:tr h="41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0FFFF"/>
                          </a:solidFill>
                        </a:rPr>
                        <a:t>Policy Type</a:t>
                      </a:r>
                      <a:endParaRPr b="1"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0FFFF"/>
                          </a:solidFill>
                        </a:rPr>
                        <a:t>Simulated Productivity Increase</a:t>
                      </a:r>
                      <a:endParaRPr b="1"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FFFF"/>
                          </a:solidFill>
                        </a:rPr>
                        <a:t>Income Only</a:t>
                      </a:r>
                      <a:endParaRPr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FFFF"/>
                          </a:solidFill>
                        </a:rPr>
                        <a:t>0.068 units</a:t>
                      </a:r>
                      <a:endParaRPr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FFFF"/>
                          </a:solidFill>
                        </a:rPr>
                        <a:t>AOI Only</a:t>
                      </a:r>
                      <a:endParaRPr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FFFF"/>
                          </a:solidFill>
                        </a:rPr>
                        <a:t>0.18 units</a:t>
                      </a:r>
                      <a:endParaRPr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FFFF"/>
                          </a:solidFill>
                        </a:rPr>
                        <a:t>Combined</a:t>
                      </a:r>
                      <a:endParaRPr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rgbClr val="00FFFF"/>
                          </a:solidFill>
                        </a:rPr>
                        <a:t>0.249 units</a:t>
                      </a:r>
                      <a:endParaRPr sz="1000" u="none" cap="none" strike="noStrike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